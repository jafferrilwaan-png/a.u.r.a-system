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3200400" cy="36576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>
              <a:defRPr b="1" sz="1100">
                <a:solidFill>
                  <a:srgbClr val="0F766E"/>
                </a:solidFill>
              </a:defRPr>
            </a:pPr>
            <a:r>
              <a:t>[LOGO] [ Team AntiGravity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0" y="16459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800">
                <a:solidFill>
                  <a:srgbClr val="1B365D"/>
                </a:solidFill>
              </a:defRPr>
            </a:pPr>
            <a: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37160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950">
                <a:solidFill>
                  <a:srgbClr val="1B365D"/>
                </a:solidFill>
              </a:defRPr>
            </a:pPr>
            <a:r>
              <a:t>SMART INDIA</a:t>
            </a:r>
            <a:br/>
            <a:r>
              <a:t>HACKATHON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77240"/>
            <a:ext cx="11460175" cy="1828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SIH 2026 — Idea Submission — [ Project A.U.R.A. / Team AntiGravity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05840"/>
            <a:ext cx="7132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700">
                <a:solidFill>
                  <a:srgbClr val="1B365D"/>
                </a:solidFill>
              </a:defRPr>
            </a:pPr>
            <a:r>
              <a:t>[ Rapid Non-Invasive Subterranean Victim Localization &amp; Void Life Detection in Post-Disaster Structural Collapse Scenarios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03120"/>
            <a:ext cx="7132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Problem Statement ID — </a:t>
            </a:r>
            <a:r>
              <a:rPr b="0" sz="1100">
                <a:solidFill>
                  <a:srgbClr val="1B365D"/>
                </a:solidFill>
              </a:rPr>
              <a:t>[ SIH1566 ]
</a:t>
            </a:r>
          </a:p>
          <a:p>
            <a:r>
              <a:rPr b="1" sz="1100">
                <a:solidFill>
                  <a:srgbClr val="0F172A"/>
                </a:solidFill>
              </a:rPr>
              <a:t>Problem Statement Title — </a:t>
            </a:r>
            <a:r>
              <a:rPr b="0" sz="1100">
                <a:solidFill>
                  <a:srgbClr val="0E7490"/>
                </a:solidFill>
              </a:rPr>
              <a:t>Rapid Non-Invasive Subterranean Victim Localization &amp; Void Life Detection
</a:t>
            </a:r>
          </a:p>
          <a:p>
            <a:r>
              <a:rPr b="1" sz="1100">
                <a:solidFill>
                  <a:srgbClr val="0F172A"/>
                </a:solidFill>
              </a:rPr>
              <a:t>Theme — </a:t>
            </a:r>
            <a:r>
              <a:rPr b="0" sz="1100">
                <a:solidFill>
                  <a:srgbClr val="0E7490"/>
                </a:solidFill>
              </a:rPr>
              <a:t>[ Disaster Management &amp; Robotics ]
</a:t>
            </a:r>
          </a:p>
          <a:p>
            <a:r>
              <a:rPr b="1" sz="1100">
                <a:solidFill>
                  <a:srgbClr val="0F172A"/>
                </a:solidFill>
              </a:rPr>
              <a:t>PS Category — </a:t>
            </a:r>
            <a:r>
              <a:rPr b="0" sz="1100">
                <a:solidFill>
                  <a:srgbClr val="0E7490"/>
                </a:solidFill>
              </a:rPr>
              <a:t>[ Hardware &amp; Software Integrated System ]
</a:t>
            </a:r>
          </a:p>
          <a:p>
            <a:r>
              <a:rPr b="1" sz="1100">
                <a:solidFill>
                  <a:srgbClr val="0F172A"/>
                </a:solidFill>
              </a:rPr>
              <a:t>Team Name (Registered on portal) — </a:t>
            </a:r>
            <a:r>
              <a:rPr b="0" sz="1100">
                <a:solidFill>
                  <a:srgbClr val="1B365D"/>
                </a:solidFill>
              </a:rPr>
              <a:t>[ Team AntiGravity ]
</a:t>
            </a:r>
          </a:p>
          <a:p>
            <a:r>
              <a:rPr b="1" sz="1100">
                <a:solidFill>
                  <a:srgbClr val="0F172A"/>
                </a:solidFill>
              </a:rPr>
              <a:t>Team ID — </a:t>
            </a:r>
            <a:r>
              <a:rPr b="0" sz="1100">
                <a:solidFill>
                  <a:srgbClr val="1B365D"/>
                </a:solidFill>
              </a:rPr>
              <a:t>[ T2026-AURA ]
</a:t>
            </a:r>
          </a:p>
          <a:p>
            <a:r>
              <a:rPr b="1" sz="1100">
                <a:solidFill>
                  <a:srgbClr val="0F172A"/>
                </a:solidFill>
              </a:rPr>
              <a:t>Institution — </a:t>
            </a:r>
            <a:r>
              <a:rPr b="0" sz="1100">
                <a:solidFill>
                  <a:srgbClr val="0E7490"/>
                </a:solidFill>
              </a:rPr>
              <a:t>[ Panimalar Engineering College (Autonomous) ]
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1463040"/>
            <a:ext cx="393192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5400"/>
            </a:pPr>
            <a:r>
              <a:t>💡</a:t>
            </a:r>
          </a:p>
          <a:p>
            <a:pPr algn="ctr">
              <a:defRPr b="1" sz="1600">
                <a:solidFill>
                  <a:srgbClr val="1B365D"/>
                </a:solidFill>
              </a:defRPr>
            </a:pPr>
            <a:r>
              <a:t>SMART INDIA</a:t>
            </a:r>
            <a:br/>
            <a:r>
              <a:t>HACKATHON 2026</a:t>
            </a:r>
          </a:p>
          <a:p>
            <a:pPr algn="ctr">
              <a:defRPr sz="1000">
                <a:solidFill>
                  <a:srgbClr val="D97706"/>
                </a:solidFill>
              </a:defRPr>
            </a:pPr>
            <a:br/>
            <a:r>
              <a:t>PROJECT A.U.R.A.</a:t>
            </a:r>
            <a:br/>
            <a:r>
              <a:t>Autonomous Universal Rescue &amp; Analysis Node</a:t>
            </a:r>
            <a:br/>
            <a:br/>
            <a:r>
              <a:t>1010  010101  101010</a:t>
            </a:r>
            <a:br/>
            <a:r>
              <a:t>0101011  10101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3200400" cy="36576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>
              <a:defRPr b="1" sz="1100">
                <a:solidFill>
                  <a:srgbClr val="0F766E"/>
                </a:solidFill>
              </a:defRPr>
            </a:pPr>
            <a:r>
              <a:t>[LOGO] [ Team AntiGravity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0" y="16459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800">
                <a:solidFill>
                  <a:srgbClr val="1B365D"/>
                </a:solidFill>
              </a:defRPr>
            </a:pPr>
            <a: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37160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950">
                <a:solidFill>
                  <a:srgbClr val="1B365D"/>
                </a:solidFill>
              </a:defRPr>
            </a:pPr>
            <a:r>
              <a:t>SMART INDIA</a:t>
            </a:r>
            <a:br/>
            <a:r>
              <a:t>HACKATHON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77240"/>
            <a:ext cx="11460175" cy="1828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SIH 2026 — Idea Submission — [ Project A.U.R.A. / Team AntiGravity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8686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D97706"/>
                </a:solidFill>
              </a:defRPr>
            </a:pPr>
            <a:r>
              <a:t>Problem at Hand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34440"/>
            <a:ext cx="34747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b="1" sz="950">
                <a:solidFill>
                  <a:srgbClr val="D97706"/>
                </a:solidFill>
              </a:defRPr>
            </a:pPr>
            <a:r>
              <a:t>[ Core Problem ]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Post-collapse pancake voids trap victims beneath reinforced concrete where optical drones &amp; RF fail.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468880"/>
            <a:ext cx="34747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b="1" sz="950">
                <a:solidFill>
                  <a:srgbClr val="E11D48"/>
                </a:solidFill>
              </a:defRPr>
            </a:pPr>
            <a:r>
              <a:t>[ Gap In Existing Solutions ]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Military radar costs Rs 15L+ &amp; capped at 3-4m; geophones cannot sense breath VOCs or unconscious victims.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703320"/>
            <a:ext cx="34747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b="1" sz="950">
                <a:solidFill>
                  <a:srgbClr val="9333EA"/>
                </a:solidFill>
              </a:defRPr>
            </a:pPr>
            <a:r>
              <a:t>[ Scale Of The Problem ]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80% of preventable disaster fatalities occur in the 72-Hour Golden Window due to slow localization.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4937760"/>
            <a:ext cx="34747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b="1" sz="950">
                <a:solidFill>
                  <a:srgbClr val="2563EB"/>
                </a:solidFill>
              </a:defRPr>
            </a:pPr>
            <a:r>
              <a:t>[ Consequence If Unsolved ]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Excavators dig blindly, destabilizing rubble arches &amp; causing secondary cave-ins on trapped souls.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86868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0F766E"/>
                </a:solidFill>
              </a:defRPr>
            </a:pPr>
            <a:r>
              <a:t>Our 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1234440"/>
            <a:ext cx="3566160" cy="2011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Concept Diagram — Project A.U.R.A.</a:t>
            </a:r>
          </a:p>
          <a:p>
            <a:pPr algn="ctr">
              <a:defRPr sz="850">
                <a:solidFill>
                  <a:srgbClr val="94A3B8"/>
                </a:solidFill>
              </a:defRPr>
            </a:pPr>
            <a:br/>
            <a:r>
              <a:t>[ Multi-Modal Penetrative Subterranean Life Finding Matrix ]</a:t>
            </a:r>
            <a:br/>
            <a:r>
              <a:t>Combining Seismic, Microwave Doppler Radar, Acoustic &amp; Bio-Scent VOCs</a:t>
            </a:r>
            <a:br/>
          </a:p>
          <a:p>
            <a:pPr algn="ctr">
              <a:defRPr b="1" sz="850">
                <a:solidFill>
                  <a:srgbClr val="38BDF8"/>
                </a:solidFill>
              </a:defRPr>
            </a:pPr>
            <a:r>
              <a:t>[ HEAR THE UNHEARD, RESCUE FROM THE DARK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33756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100">
                <a:solidFill>
                  <a:srgbClr val="D97706"/>
                </a:solidFill>
              </a:defRPr>
            </a:pPr>
            <a:r>
              <a:t>Why We Stand 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0" y="3703320"/>
            <a:ext cx="356616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defRPr sz="900">
                <a:solidFill>
                  <a:srgbClr val="0F172A"/>
                </a:solidFill>
              </a:defRPr>
            </a:pPr>
            <a:r>
              <a:t>• Differentiator 1: 6.0m Penetration Depth — Exceeds 3-4m military handheld radar limits.</a:t>
            </a:r>
            <a:br/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Differentiator 2: 3-Level Multi-Modal Fusion — Seismic taps + Doppler motion + breath VOCs.</a:t>
            </a:r>
            <a:br/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Differentiator 3: Built at &lt; Rs 3,500 ($42 USD) vs Rs 15 Lakh imported foreign equipment.</a:t>
            </a:r>
            <a:br/>
          </a:p>
        </p:txBody>
      </p:sp>
      <p:sp>
        <p:nvSpPr>
          <p:cNvPr id="17" name="TextBox 16"/>
          <p:cNvSpPr txBox="1"/>
          <p:nvPr/>
        </p:nvSpPr>
        <p:spPr>
          <a:xfrm>
            <a:off x="7955279" y="86868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1B365D"/>
                </a:solidFill>
              </a:defRPr>
            </a:pPr>
            <a:r>
              <a:t>Key Features</a:t>
            </a:r>
          </a:p>
        </p:txBody>
      </p:sp>
      <p:sp>
        <p:nvSpPr>
          <p:cNvPr id="18" name="Oval 17"/>
          <p:cNvSpPr/>
          <p:nvPr/>
        </p:nvSpPr>
        <p:spPr>
          <a:xfrm>
            <a:off x="7955279" y="1280160"/>
            <a:ext cx="411480" cy="411480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1234440"/>
            <a:ext cx="3291840" cy="7772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b="1" sz="950">
                <a:solidFill>
                  <a:srgbClr val="1B365D"/>
                </a:solidFill>
              </a:defRPr>
            </a:pPr>
            <a:r>
              <a:t>6-Meter Void Penetration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5.8GHz Microwave Doppler Radar penetrating thick concrete.</a:t>
            </a:r>
          </a:p>
        </p:txBody>
      </p:sp>
      <p:sp>
        <p:nvSpPr>
          <p:cNvPr id="20" name="Oval 19"/>
          <p:cNvSpPr/>
          <p:nvPr/>
        </p:nvSpPr>
        <p:spPr>
          <a:xfrm>
            <a:off x="7955279" y="2103120"/>
            <a:ext cx="411480" cy="411480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057400"/>
            <a:ext cx="3291840" cy="7772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b="1" sz="950">
                <a:solidFill>
                  <a:srgbClr val="1B365D"/>
                </a:solidFill>
              </a:defRPr>
            </a:pPr>
            <a:r>
              <a:t>500Hz DSP Seismic Tap Counter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Isolates rhythmic survivor knocks from machinery noise.</a:t>
            </a:r>
          </a:p>
        </p:txBody>
      </p:sp>
      <p:sp>
        <p:nvSpPr>
          <p:cNvPr id="22" name="Oval 21"/>
          <p:cNvSpPr/>
          <p:nvPr/>
        </p:nvSpPr>
        <p:spPr>
          <a:xfrm>
            <a:off x="7955279" y="2926080"/>
            <a:ext cx="411480" cy="411480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2880360"/>
            <a:ext cx="3291840" cy="7772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b="1" sz="950">
                <a:solidFill>
                  <a:srgbClr val="1B365D"/>
                </a:solidFill>
              </a:defRPr>
            </a:pPr>
            <a:r>
              <a:t>Acoustic Spectrum Classifier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Real-time dB energy categorization (whispers to cries).</a:t>
            </a:r>
          </a:p>
        </p:txBody>
      </p:sp>
      <p:sp>
        <p:nvSpPr>
          <p:cNvPr id="24" name="Oval 23"/>
          <p:cNvSpPr/>
          <p:nvPr/>
        </p:nvSpPr>
        <p:spPr>
          <a:xfrm>
            <a:off x="7955279" y="3749040"/>
            <a:ext cx="411480" cy="411480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3703320"/>
            <a:ext cx="3291840" cy="7772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b="1" sz="950">
                <a:solidFill>
                  <a:srgbClr val="1B365D"/>
                </a:solidFill>
              </a:defRPr>
            </a:pPr>
            <a:r>
              <a:t>Bio-Scent Gas Discrimination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Distinguishes metabolic breath (NH3/VOCs) from smoke.</a:t>
            </a:r>
          </a:p>
        </p:txBody>
      </p:sp>
      <p:sp>
        <p:nvSpPr>
          <p:cNvPr id="26" name="Oval 25"/>
          <p:cNvSpPr/>
          <p:nvPr/>
        </p:nvSpPr>
        <p:spPr>
          <a:xfrm>
            <a:off x="7955279" y="4572000"/>
            <a:ext cx="411480" cy="411480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4526280"/>
            <a:ext cx="3291840" cy="7772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b="1" sz="950">
                <a:solidFill>
                  <a:srgbClr val="1B365D"/>
                </a:solidFill>
              </a:defRPr>
            </a:pPr>
            <a:r>
              <a:t>Dual-Core FreeRTOS Engine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Core 1 runs 500Hz DSP while Core 0 handles Web Server &amp; AI.</a:t>
            </a:r>
          </a:p>
        </p:txBody>
      </p:sp>
      <p:sp>
        <p:nvSpPr>
          <p:cNvPr id="28" name="Oval 27"/>
          <p:cNvSpPr/>
          <p:nvPr/>
        </p:nvSpPr>
        <p:spPr>
          <a:xfrm>
            <a:off x="7955279" y="5394960"/>
            <a:ext cx="411480" cy="411480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5349240"/>
            <a:ext cx="3291840" cy="7772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b="1" sz="950">
                <a:solidFill>
                  <a:srgbClr val="1B365D"/>
                </a:solidFill>
              </a:defRPr>
            </a:pPr>
            <a:r>
              <a:t>Cloud Neural AI Triage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Streams physical telemetry directly to Google Gemini Flash 1.5.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3200400" cy="36576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>
              <a:defRPr b="1" sz="1100">
                <a:solidFill>
                  <a:srgbClr val="0F766E"/>
                </a:solidFill>
              </a:defRPr>
            </a:pPr>
            <a:r>
              <a:t>[LOGO] [ Team AntiGravity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0" y="16459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800">
                <a:solidFill>
                  <a:srgbClr val="1B365D"/>
                </a:solidFill>
              </a:defRPr>
            </a:pPr>
            <a:r>
              <a:t>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37160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950">
                <a:solidFill>
                  <a:srgbClr val="1B365D"/>
                </a:solidFill>
              </a:defRPr>
            </a:pPr>
            <a:r>
              <a:t>SMART INDIA</a:t>
            </a:r>
            <a:br/>
            <a:r>
              <a:t>HACKATHON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77240"/>
            <a:ext cx="11460175" cy="1828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SIH 2026 — Idea Submission — [ Project A.U.R.A. / Team AntiGravity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960120"/>
            <a:ext cx="2011680" cy="548640"/>
          </a:xfrm>
          <a:prstGeom prst="roundRect">
            <a:avLst/>
          </a:prstGeom>
          <a:solidFill>
            <a:srgbClr val="F1F5F9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50">
                <a:solidFill>
                  <a:srgbClr val="1E40AF"/>
                </a:solidFill>
              </a:defRPr>
            </a:pPr>
            <a:r>
              <a:t>1  INPUT / SENSORS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05156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64748B"/>
                </a:solidFill>
              </a:defRPr>
            </a:pPr>
            <a:r>
              <a:t>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79" y="960120"/>
            <a:ext cx="2011680" cy="548640"/>
          </a:xfrm>
          <a:prstGeom prst="roundRect">
            <a:avLst/>
          </a:prstGeom>
          <a:solidFill>
            <a:srgbClr val="F1F5F9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50">
                <a:solidFill>
                  <a:srgbClr val="166534"/>
                </a:solidFill>
              </a:defRPr>
            </a:pPr>
            <a:r>
              <a:t>2  PROCESSING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59" y="105156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64748B"/>
                </a:solidFill>
              </a:defRPr>
            </a:pPr>
            <a:r>
              <a:t>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960120"/>
            <a:ext cx="2011680" cy="548640"/>
          </a:xfrm>
          <a:prstGeom prst="roundRect">
            <a:avLst/>
          </a:prstGeom>
          <a:solidFill>
            <a:srgbClr val="F1F5F9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50">
                <a:solidFill>
                  <a:srgbClr val="D97706"/>
                </a:solidFill>
              </a:defRPr>
            </a:pPr>
            <a:r>
              <a:t>3  CORE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05156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64748B"/>
                </a:solidFill>
              </a:defRPr>
            </a:pPr>
            <a:r>
              <a:t>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19" y="960120"/>
            <a:ext cx="2011680" cy="548640"/>
          </a:xfrm>
          <a:prstGeom prst="roundRect">
            <a:avLst/>
          </a:prstGeom>
          <a:solidFill>
            <a:srgbClr val="F1F5F9"/>
          </a:solidFill>
          <a:ln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50">
                <a:solidFill>
                  <a:srgbClr val="7E22CE"/>
                </a:solidFill>
              </a:defRPr>
            </a:pPr>
            <a:r>
              <a:t>4  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599" y="105156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64748B"/>
                </a:solidFill>
              </a:defRPr>
            </a:pPr>
            <a:r>
              <a:t>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92640" y="960120"/>
            <a:ext cx="2011680" cy="548640"/>
          </a:xfrm>
          <a:prstGeom prst="roundRect">
            <a:avLst/>
          </a:prstGeom>
          <a:solidFill>
            <a:srgbClr val="F1F5F9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50">
                <a:solidFill>
                  <a:srgbClr val="B91C1C"/>
                </a:solidFill>
              </a:defRPr>
            </a:pPr>
            <a:r>
              <a:t>5  OUTPUT / USER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536192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i="1" sz="850">
                <a:solidFill>
                  <a:srgbClr val="64748B"/>
                </a:solidFill>
              </a:defRPr>
            </a:pPr>
            <a:r>
              <a:t>Hardware-to-Cloud Pipeline: Deterministic 500Hz Edge DSP Signal Extraction directly to Cloud AI Triage &amp; Ruggedized C2 Field Tablets.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1874519"/>
            <a:ext cx="365760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>
              <a:defRPr b="1" sz="1050">
                <a:solidFill>
                  <a:srgbClr val="D97706"/>
                </a:solidFill>
              </a:defRPr>
            </a:pPr>
            <a:r>
              <a:t>Tech Stack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Firmware: C++ FreeRTOS on ESP32-WROOM-32</a:t>
            </a:r>
            <a:br/>
            <a:r>
              <a:t>• Frontend: React 19, TypeScript, Tailwind CSS</a:t>
            </a:r>
            <a:br/>
            <a:r>
              <a:t>• GIS Engine: Leaflet Topographic Radar</a:t>
            </a:r>
            <a:br/>
            <a:r>
              <a:t>• Neural AI: Google Gemini Flash 1.5 via OpenRouter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1874519"/>
            <a:ext cx="365760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>
              <a:defRPr b="1" sz="1050">
                <a:solidFill>
                  <a:srgbClr val="0E7490"/>
                </a:solidFill>
              </a:defRPr>
            </a:pPr>
            <a:r>
              <a:t>Connectivity &amp; Security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Network: Dual-band Wi-Fi Hotspot &amp; Local AP</a:t>
            </a:r>
            <a:br/>
            <a:r>
              <a:t>• Protocol: RESTful JSON Telemetry (/api/telemetry)</a:t>
            </a:r>
            <a:br/>
            <a:r>
              <a:t>• Latency: 300ms Low-Latency Stream</a:t>
            </a:r>
            <a:br/>
            <a:r>
              <a:t>• Failsafe: Last Active GPS Anchor (12.9676 N, 79.9462 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874519"/>
            <a:ext cx="365760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>
              <a:defRPr b="1" sz="1050">
                <a:solidFill>
                  <a:srgbClr val="166534"/>
                </a:solidFill>
              </a:defRPr>
            </a:pPr>
            <a:r>
              <a:t>Product Status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Stage: Fully Working Physical Hardware Prototype (TRL-7)</a:t>
            </a:r>
            <a:br/>
            <a:r>
              <a:t>• Built vs Planned: Hardware Probe &amp; C2 Platform Complete</a:t>
            </a:r>
            <a:br/>
            <a:r>
              <a:t>• Swarm Readiness: ESP-NOW LoRa Mesh Ready</a:t>
            </a:r>
            <a:br/>
            <a:r>
              <a:t>• Live Demo: YES — Streaming Live Physical Telemetry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033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100">
                <a:solidFill>
                  <a:srgbClr val="1B365D"/>
                </a:solidFill>
              </a:defRPr>
            </a:pPr>
            <a:r>
              <a:t>Working Prototype — Live Monitoring / Demo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069080"/>
            <a:ext cx="2468880" cy="21945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1B365D"/>
                </a:solidFill>
              </a:defRPr>
            </a:pPr>
            <a:br/>
            <a:r>
              <a:t>[ ESP32 A.U.R.A. PROBE ]</a:t>
            </a:r>
          </a:p>
          <a:p>
            <a:pPr algn="ctr">
              <a:defRPr sz="800">
                <a:solidFill>
                  <a:srgbClr val="64748B"/>
                </a:solidFill>
              </a:defRPr>
            </a:pPr>
            <a:r>
              <a:t>• 8-Slide OLED Screen</a:t>
            </a:r>
            <a:br/>
            <a:r>
              <a:t>• Piezo Geophone Array</a:t>
            </a:r>
            <a:br/>
            <a:r>
              <a:t>• Electret Mic Capsule</a:t>
            </a:r>
            <a:br/>
            <a:r>
              <a:t>• RCWL Doppler Radar</a:t>
            </a:r>
            <a:br/>
            <a:r>
              <a:t>• MQ-135 Bio-Scent</a:t>
            </a:r>
            <a:br/>
            <a:r>
              <a:t>• MPU-6050 6-Axis IMU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17520" y="4069080"/>
            <a:ext cx="21488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b="1" sz="950">
                <a:solidFill>
                  <a:srgbClr val="0E7490"/>
                </a:solidFill>
              </a:defRPr>
            </a:pPr>
            <a:r>
              <a:t>Live Data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Instantaneous seismic peak (mV), acoustic dB, gas delta PPM, Doppler motion flag.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57800" y="4069080"/>
            <a:ext cx="21488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b="1" sz="950">
                <a:solidFill>
                  <a:srgbClr val="E11D48"/>
                </a:solidFill>
              </a:defRPr>
            </a:pPr>
            <a:r>
              <a:t>Alerts / Trends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Dynamic triage transitions: NOMINAL ➔ ALERT ➔ CRITICAL TRIAGE LOCK.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79" y="4069080"/>
            <a:ext cx="21488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b="1" sz="950">
                <a:solidFill>
                  <a:srgbClr val="166534"/>
                </a:solidFill>
              </a:defRPr>
            </a:pPr>
            <a:r>
              <a:t>System Status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Dual-core lock verified, 100kHz I2C bus synced, 100% zero-fake sensor data.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38360" y="4069080"/>
            <a:ext cx="21488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b="1" sz="950">
                <a:solidFill>
                  <a:srgbClr val="1B365D"/>
                </a:solidFill>
              </a:defRPr>
            </a:pPr>
            <a:r>
              <a:t>Scalability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LoRa mesh swarm expansion ready for multi-acre disaster search zones.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3200400" cy="36576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>
              <a:defRPr b="1" sz="1100">
                <a:solidFill>
                  <a:srgbClr val="0F766E"/>
                </a:solidFill>
              </a:defRPr>
            </a:pPr>
            <a:r>
              <a:t>[LOGO] [ Team AntiGravity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0" y="16459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800">
                <a:solidFill>
                  <a:srgbClr val="1B365D"/>
                </a:solidFill>
              </a:defRPr>
            </a:pPr>
            <a:r>
              <a:t>FEASIBILITY AND VIABILITY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37160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950">
                <a:solidFill>
                  <a:srgbClr val="1B365D"/>
                </a:solidFill>
              </a:defRPr>
            </a:pPr>
            <a:r>
              <a:t>SMART INDIA</a:t>
            </a:r>
            <a:br/>
            <a:r>
              <a:t>HACKATHON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77240"/>
            <a:ext cx="11460175" cy="1828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SIH 2026 — Idea Submission — [ Project A.U.R.A. / Team AntiGravity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868680"/>
            <a:ext cx="3108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D97706"/>
                </a:solidFill>
              </a:defRPr>
            </a:pPr>
            <a:r>
              <a:t>Technical Feasibility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3108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850">
                <a:solidFill>
                  <a:srgbClr val="0F172A"/>
                </a:solidFill>
              </a:defRPr>
            </a:pPr>
            <a:r>
              <a:t>• Required Skill &amp; Tech: Proven ESP32 dual-core FreeRTOS &amp; React 19 architecture.</a:t>
            </a:r>
            <a:br/>
            <a:br/>
            <a:r>
              <a:t>• Risk Mitigation: All analog sensors mapped to ADC1 to avoid Wi-Fi channel lockout.</a:t>
            </a:r>
            <a:br/>
            <a:br/>
            <a:r>
              <a:t>• Software DSP: Sub-ms envelope filters eliminate hardware lockups.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474720"/>
            <a:ext cx="3108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00">
                <a:solidFill>
                  <a:srgbClr val="E11D48"/>
                </a:solidFill>
              </a:defRPr>
            </a:pPr>
            <a:r>
              <a:t>Economic &amp; Operational Viability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794760"/>
            <a:ext cx="310896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850">
                <a:solidFill>
                  <a:srgbClr val="0F172A"/>
                </a:solidFill>
              </a:defRPr>
            </a:pPr>
            <a:r>
              <a:t>• Cost &amp; Payback: Immediate ROI; unit cost &lt; Rs 3,500 enables massive deployment.</a:t>
            </a:r>
            <a:br/>
            <a:br/>
            <a:r>
              <a:t>• Operational Simplicity: Turnkey 15-second deployment; no complex calibration.</a:t>
            </a:r>
            <a:br/>
            <a:br/>
            <a:r>
              <a:t>• Public Procurement: Direct institutional fit for SDRF/NDRF &amp; municipal fire brigades.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8686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1B365D"/>
                </a:solidFill>
              </a:defRPr>
            </a:pPr>
            <a:r>
              <a:t>Economical Feasibility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749039" y="1188720"/>
          <a:ext cx="512064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828800"/>
                <a:gridCol w="1828800"/>
              </a:tblGrid>
              <a:tr h="429768"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FFFFFF"/>
                          </a:solidFill>
                        </a:defRPr>
                      </a:pPr>
                      <a:r>
                        <a:t>Existing Approach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FFFFFF"/>
                          </a:solidFill>
                        </a:defRPr>
                      </a:pPr>
                      <a:r>
                        <a:t>Proposed Solution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Cost of unit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Rs 12,00,000 - 15,00,000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66534"/>
                          </a:solidFill>
                        </a:defRPr>
                      </a:pPr>
                      <a:r>
                        <a:t>&lt; Rs 3,500 ($42 USD)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Running cost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Rs 50,000/yr (spares)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66534"/>
                          </a:solidFill>
                        </a:defRPr>
                      </a:pPr>
                      <a:r>
                        <a:t>Zero (Standard Li-ion)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Efficiency /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Single acoustic mode (3m)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66534"/>
                          </a:solidFill>
                        </a:defRPr>
                      </a:pPr>
                      <a:r>
                        <a:t>Multi-modal up to 6.0m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Monitoring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Handheld analog meter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66534"/>
                          </a:solidFill>
                        </a:defRPr>
                      </a:pPr>
                      <a:r>
                        <a:t>Web C2 + Cloud AI + OLED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749039" y="347472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1B365D"/>
                </a:solidFill>
              </a:defRPr>
            </a:pPr>
            <a:r>
              <a:t>Implementation Viability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749039" y="3794760"/>
          <a:ext cx="512064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</a:tblGrid>
              <a:tr h="484632"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FFFFFF"/>
                          </a:solidFill>
                        </a:defRPr>
                      </a:pPr>
                      <a:r>
                        <a:t>Factor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FFFFFF"/>
                          </a:solidFill>
                        </a:defRPr>
                      </a:pPr>
                      <a:r>
                        <a:t>Support Element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Manufacturability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100% COTS components; assembly takes under 45 mins.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Component Availability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Locally available across India (ESP32, Piezo, MQ135).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Scalability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Standardized modular PCB design ready for production.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Deployment Readiness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TRL-7 Working Prototype validated with live telemetry.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144000" y="868680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0E7490"/>
                </a:solidFill>
              </a:defRPr>
            </a:pPr>
            <a:r>
              <a:t>Maintenance &amp; Safety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188720"/>
            <a:ext cx="26517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850">
                <a:solidFill>
                  <a:srgbClr val="0F172A"/>
                </a:solidFill>
              </a:defRPr>
            </a:pPr>
            <a:r>
              <a:t>• Maintenance Need: Modular probe tips; zero moving parts; low field wear.</a:t>
            </a:r>
            <a:br/>
            <a:br/>
            <a:r>
              <a:t>• Safety Measures: Intrinsically safe 3.3V low voltage; zero electrical spark hazard in gas voids.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474720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166534"/>
                </a:solidFill>
              </a:defRPr>
            </a:pPr>
            <a:r>
              <a:t>Environmental Viability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3794760"/>
            <a:ext cx="265176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850">
                <a:solidFill>
                  <a:srgbClr val="0F172A"/>
                </a:solidFill>
              </a:defRPr>
            </a:pPr>
            <a:r>
              <a:t>• Carbon Footprint: Battery-powered; zero emissions compared to 5kW diesel generator tools.</a:t>
            </a:r>
            <a:br/>
            <a:br/>
            <a:r>
              <a:t>• Silent Operation: Eliminates noise pollution during critical acoustic listening sessions.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3200400" cy="36576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>
              <a:defRPr b="1" sz="1100">
                <a:solidFill>
                  <a:srgbClr val="0F766E"/>
                </a:solidFill>
              </a:defRPr>
            </a:pPr>
            <a:r>
              <a:t>[LOGO] [ Team AntiGravity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0" y="16459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800">
                <a:solidFill>
                  <a:srgbClr val="1B365D"/>
                </a:solidFill>
              </a:defRPr>
            </a:pPr>
            <a:r>
              <a:t>IMPACT AND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37160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950">
                <a:solidFill>
                  <a:srgbClr val="1B365D"/>
                </a:solidFill>
              </a:defRPr>
            </a:pPr>
            <a:r>
              <a:t>SMART INDIA</a:t>
            </a:r>
            <a:br/>
            <a:r>
              <a:t>HACKATHON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77240"/>
            <a:ext cx="11460175" cy="1828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SIH 2026 — Idea Submission — [ Project A.U.R.A. / Team AntiGravity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868680"/>
            <a:ext cx="114601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• Direct Beneficiaries: NDRF, SDRF, Municipal Fire &amp; Rescue Teams, Defense QRTs, and disaster-trapped citizens.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• Impact Dimensions: Social — Instant survivor reassurance | Economic — 400x cost reduction | Environmental — Silent battery nodes.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100">
                <a:solidFill>
                  <a:srgbClr val="1B365D"/>
                </a:solidFill>
              </a:defRPr>
            </a:pPr>
            <a:r>
              <a:t>IMPACT AT A GLANCE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697480" cy="14173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0E7490"/>
                </a:solidFill>
              </a:defRPr>
            </a:pPr>
            <a:r>
              <a:t>[ + 400 % ]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[ Rescue search speed gain (sub-60s triangulation) 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828800"/>
            <a:ext cx="2697480" cy="14173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166534"/>
                </a:solidFill>
              </a:defRPr>
            </a:pPr>
            <a:r>
              <a:t>[ Rs 14.9 L ]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[ Cost saved per unit vs imported foreign tools 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2697480" cy="14173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D97706"/>
                </a:solidFill>
              </a:defRPr>
            </a:pPr>
            <a:r>
              <a:t>[ 10,000 + ]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[ Potential disaster victims reachable annually 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6840" y="1828800"/>
            <a:ext cx="2697480" cy="14173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E11D48"/>
                </a:solidFill>
              </a:defRPr>
            </a:pPr>
            <a:r>
              <a:t>[ 85 % ]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[ Reduction in blind excavation secondary cave-in risks 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429000"/>
            <a:ext cx="36576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>
              <a:defRPr b="1" sz="1100">
                <a:solidFill>
                  <a:srgbClr val="1E40AF"/>
                </a:solidFill>
              </a:defRPr>
            </a:pPr>
            <a:r>
              <a:t>Social Impact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Eliminates agonizing delays in survivor location.</a:t>
            </a:r>
            <a:br/>
            <a:r>
              <a:t>• Acoustic locator beacon gives psychological hope to trapped victims.</a:t>
            </a:r>
            <a:br/>
            <a:r>
              <a:t>• Provides surgical coordinates to grieving families.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3429000"/>
            <a:ext cx="36576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>
              <a:defRPr b="1" sz="1100">
                <a:solidFill>
                  <a:srgbClr val="D97706"/>
                </a:solidFill>
              </a:defRPr>
            </a:pPr>
            <a:r>
              <a:t>Economic Impact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Democratizes life-detection tech across Indian districts.</a:t>
            </a:r>
            <a:br/>
            <a:r>
              <a:t>• Under Rs 3,500 cost allows equipping every fire engine.</a:t>
            </a:r>
            <a:br/>
            <a:r>
              <a:t>• Eliminates costly dependency on foreign defense import spares.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429000"/>
            <a:ext cx="36576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>
              <a:defRPr b="1" sz="1100">
                <a:solidFill>
                  <a:srgbClr val="166534"/>
                </a:solidFill>
              </a:defRPr>
            </a:pPr>
            <a:r>
              <a:t>Environmental Impact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Zero carbon footprint with rechargeable Li-ion packs.</a:t>
            </a:r>
            <a:br/>
            <a:r>
              <a:t>• Silent sensing replaces noisy 5kW diesel generator sets.</a:t>
            </a:r>
            <a:br/>
            <a:r>
              <a:t>• Eliminates toxic exhaust accumulation in collapse voids.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44068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000">
                <a:solidFill>
                  <a:srgbClr val="1B365D"/>
                </a:solidFill>
              </a:defRPr>
            </a:pPr>
            <a:r>
              <a:t>ALIGNED WITH NATIONAL PRIORITIES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760720"/>
            <a:ext cx="3657600" cy="457200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50">
                <a:solidFill>
                  <a:srgbClr val="FFFFFF"/>
                </a:solidFill>
              </a:defRPr>
            </a:pPr>
            <a:r>
              <a:t>[ NDMA Mission 2030 (Zero Casualties) 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5760720"/>
            <a:ext cx="3657600" cy="457200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50">
                <a:solidFill>
                  <a:srgbClr val="FFFFFF"/>
                </a:solidFill>
              </a:defRPr>
            </a:pPr>
            <a:r>
              <a:t>[ Make In India / Atmanirbhar Bharat 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5760720"/>
            <a:ext cx="3657600" cy="457200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50">
                <a:solidFill>
                  <a:srgbClr val="FFFFFF"/>
                </a:solidFill>
              </a:defRPr>
            </a:pPr>
            <a:r>
              <a:t>[ Smart Cities US&amp;R Disaster Resiliency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3200400" cy="36576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>
              <a:defRPr b="1" sz="1100">
                <a:solidFill>
                  <a:srgbClr val="0F766E"/>
                </a:solidFill>
              </a:defRPr>
            </a:pPr>
            <a:r>
              <a:t>[LOGO] [ Team AntiGravity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0" y="16459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800">
                <a:solidFill>
                  <a:srgbClr val="1B365D"/>
                </a:solidFill>
              </a:defRPr>
            </a:pPr>
            <a:r>
              <a:t>TEAM ANTIGRAVITY &amp;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37160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950">
                <a:solidFill>
                  <a:srgbClr val="1B365D"/>
                </a:solidFill>
              </a:defRPr>
            </a:pPr>
            <a:r>
              <a:t>SMART INDIA</a:t>
            </a:r>
            <a:br/>
            <a:r>
              <a:t>HACKATHON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77240"/>
            <a:ext cx="11460175" cy="1828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SIH 2026 — Idea Submission — [ Project A.U.R.A. / Team AntiGravity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868680"/>
            <a:ext cx="11460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1B365D"/>
                </a:solidFill>
              </a:defRPr>
            </a:pPr>
            <a:r>
              <a:t>Core Engineering Team — Panimalar Engineering College (Autonomous)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80160"/>
            <a:ext cx="36576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defRPr b="1" sz="1250">
                <a:solidFill>
                  <a:srgbClr val="1B365D"/>
                </a:solidFill>
              </a:defRPr>
            </a:pPr>
            <a:r>
              <a:t>Jaffer Rilwaan V</a:t>
            </a:r>
          </a:p>
          <a:p>
            <a:pPr>
              <a:defRPr b="1" sz="900">
                <a:solidFill>
                  <a:srgbClr val="0E7490"/>
                </a:solidFill>
              </a:defRPr>
            </a:pPr>
            <a:r>
              <a:t>LEAD SYSTEMS ARCHITECT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Full-Stack C2 Platform, Neural AI Integration &amp; Telemetry Pipeline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280160"/>
            <a:ext cx="36576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defRPr b="1" sz="1250">
                <a:solidFill>
                  <a:srgbClr val="1B365D"/>
                </a:solidFill>
              </a:defRPr>
            </a:pPr>
            <a:r>
              <a:t>Kingston J</a:t>
            </a:r>
          </a:p>
          <a:p>
            <a:pPr>
              <a:defRPr b="1" sz="900">
                <a:solidFill>
                  <a:srgbClr val="0E7490"/>
                </a:solidFill>
              </a:defRPr>
            </a:pPr>
            <a:r>
              <a:t>FIRMWARE &amp; SIGNAL SPECIALIST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Dual-Core FreeRTOS, 500Hz DSP Filtering &amp; Presentation Speaker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280160"/>
            <a:ext cx="36576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defRPr b="1" sz="1250">
                <a:solidFill>
                  <a:srgbClr val="1B365D"/>
                </a:solidFill>
              </a:defRPr>
            </a:pPr>
            <a:r>
              <a:t>Hannah Blessy J</a:t>
            </a:r>
          </a:p>
          <a:p>
            <a:pPr>
              <a:defRPr b="1" sz="900">
                <a:solidFill>
                  <a:srgbClr val="0E7490"/>
                </a:solidFill>
              </a:defRPr>
            </a:pPr>
            <a:r>
              <a:t>HARDWARE &amp; SENSOR LEAD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Piezoelectric Transducer Arrays &amp; Bio-Scent VOC Hardware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291840"/>
            <a:ext cx="36576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defRPr b="1" sz="1250">
                <a:solidFill>
                  <a:srgbClr val="1B365D"/>
                </a:solidFill>
              </a:defRPr>
            </a:pPr>
            <a:r>
              <a:t>Kathiravan S</a:t>
            </a:r>
          </a:p>
          <a:p>
            <a:pPr>
              <a:defRPr b="1" sz="900">
                <a:solidFill>
                  <a:srgbClr val="0E7490"/>
                </a:solidFill>
              </a:defRPr>
            </a:pPr>
            <a:r>
              <a:t>TELEMETRY &amp; CLOUD ENGINEER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Edge-to-Cloud Protocols &amp; Resilient Networking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3291840"/>
            <a:ext cx="36576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defRPr b="1" sz="1250">
                <a:solidFill>
                  <a:srgbClr val="1B365D"/>
                </a:solidFill>
              </a:defRPr>
            </a:pPr>
            <a:r>
              <a:t>Giridhar K</a:t>
            </a:r>
          </a:p>
          <a:p>
            <a:pPr>
              <a:defRPr b="1" sz="900">
                <a:solidFill>
                  <a:srgbClr val="0E7490"/>
                </a:solidFill>
              </a:defRPr>
            </a:pPr>
            <a:r>
              <a:t>UI/UX &amp; TACTICAL OPS LEAD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High-Contrast Tactical C2 HUD &amp; Responder Experience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291840"/>
            <a:ext cx="36576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defRPr b="1" sz="1250">
                <a:solidFill>
                  <a:srgbClr val="1B365D"/>
                </a:solidFill>
              </a:defRPr>
            </a:pPr>
            <a:r>
              <a:t>Nithyashree V</a:t>
            </a:r>
          </a:p>
          <a:p>
            <a:pPr>
              <a:defRPr b="1" sz="900">
                <a:solidFill>
                  <a:srgbClr val="0E7490"/>
                </a:solidFill>
              </a:defRPr>
            </a:pPr>
            <a:r>
              <a:t>EMBEDDED POWER &amp; QA LEAD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Energy Regulation, Battery Management, QA &amp; Presentation Speaker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5486400"/>
            <a:ext cx="11460175" cy="777240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🎯 WORKING PROTOTYPE READY FOR LIVE JURY EVALUATION</a:t>
            </a:r>
          </a:p>
          <a:p>
            <a:pPr algn="ctr">
              <a:defRPr sz="950">
                <a:solidFill>
                  <a:srgbClr val="38BDF8"/>
                </a:solidFill>
              </a:defRPr>
            </a:pPr>
            <a:r>
              <a:t>Live Telemetry: http://localhost:5173  |  GitHub: github.com/jafferrilwaan-png/A.U.R.A-System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