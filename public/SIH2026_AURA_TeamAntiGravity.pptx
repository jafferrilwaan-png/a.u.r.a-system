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PS ID: SIH1566 | CATEGORY: HARDWARE EDITION | DISASTER MANAGEMENT &amp; DEFENSE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A.U.R.A. — AUTONOMOUS SUB-SURFACE LIFE &amp; CAVITY DETECTION NODE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3328416" cy="201168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Problem Statement Details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PS ID: SIH1566</a:t>
            </a:r>
            <a:br/>
            <a:r>
              <a:t>Enhancing Body Detection in CSSR Operations Using Advanced Technology</a:t>
            </a:r>
            <a:br/>
            <a:br/>
            <a:r>
              <a:t>Category: Hardware Edition</a:t>
            </a:r>
            <a:br/>
            <a:r>
              <a:t>Theme: Disaster Management / Robotics &amp;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743200"/>
            <a:ext cx="3328416" cy="201168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Sponsoring Agency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National Disaster Response Force (NDRF)</a:t>
            </a:r>
            <a:br/>
            <a:r>
              <a:t>Ministry of Home Affairs (MHA)</a:t>
            </a:r>
            <a:br/>
            <a:r>
              <a:t>Government of India</a:t>
            </a:r>
            <a:br/>
            <a:br/>
            <a:r>
              <a:t>Operational Scope: Sub-Surface Cavity Mapping in Seismic &amp; Structural Collapses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743200"/>
            <a:ext cx="3328416" cy="201168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Engineering Division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Panimalar Engineering College (Autonomous)</a:t>
            </a:r>
            <a:br/>
            <a:r>
              <a:t>Affiliated to Anna University, Chennai</a:t>
            </a:r>
            <a:br/>
            <a:br/>
            <a:r>
              <a:t>Department: Electronics &amp; Communication Engineering (ECE)</a:t>
            </a:r>
            <a:br/>
            <a:r>
              <a:t>Team: Team AntiGravity (1st-Year ECE)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CRITICAL CSSR BOTTLENECK &amp; INFORMATION ASYMMETRY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ANALYSIS &amp; CSSR FIELD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328416" cy="18288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80% Preventable Suffocation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Over 80% of preventable deaths in structural collapses occur because victims in hollow air pockets cannot be located before dynamic rubble shifting in the initial 72-hour golden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560320"/>
            <a:ext cx="3328416" cy="18288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₹10,00,000 Fragile Scanners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Ground Penetrating Radar (GPR) and thermal crawlers cost ₹8L–₹15L, weigh 15+ kg, and fail to penetrate dense concrete rebar with moisture ingress.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560320"/>
            <a:ext cx="3328416" cy="18288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0% Cellular Signal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Disasters destroy communication grids, creating total Information Asymmetry where first responders are forced to search unstable fissures blindly.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TACTICAL INNOVATION: SACRIFICEABLE ACOUSTIC NODES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A.U.R.A. SWARM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1. Survivable Void Profiling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Active 40 kHz ultrasonic acoustic transceivers continuously pulse internal cavity geometry (0.02m to 4.5m) to locate hollow survivable air pockets capable of sustaining human life.</a:t>
            </a:r>
            <a:br/>
            <a:br/>
            <a:r>
              <a:t>• High-accuracy Time-of-Flight</a:t>
            </a:r>
            <a:br/>
            <a:r>
              <a:t>• Instant cavity depth profiling</a:t>
            </a:r>
            <a:br/>
            <a:r>
              <a:t>• Rebar and moisture resilient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Seismic Tap Recognition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Piezoelectric geophone sensors filter ambient disaster noise to capture rhythmic survivor tap patterns and concrete micro-vibrations.</a:t>
            </a:r>
            <a:br/>
            <a:br/>
            <a:r>
              <a:t>• Bandpass-filtered seismic listening</a:t>
            </a:r>
            <a:br/>
            <a:r>
              <a:t>• Real-time SOS rhythm detection</a:t>
            </a:r>
            <a:br/>
            <a:r>
              <a:t>• Structural frequency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3. Zero-Grid Offline Beacon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Nodes auto-instantiate an isolated local Wi-Fi Captive Portal &amp; RF Mesh Beacon. Responders connect with any phone to view coordinates with zero internet.</a:t>
            </a:r>
            <a:br/>
            <a:br/>
            <a:r>
              <a:t>• 2.4 GHz local captive portal</a:t>
            </a:r>
            <a:br/>
            <a:r>
              <a:t>• Zero app installation required</a:t>
            </a:r>
            <a:br/>
            <a:r>
              <a:t>• Real-time GPS &amp; hazard broadcast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END-TO-END DATA PIPELINE &amp; EDGE EXECUTION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TACTICAL EXECUTION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69164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01</a:t>
            </a:r>
            <a:br/>
            <a:r>
              <a:t>Drone Airdrop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Payload deployed into rubble fissure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2651760"/>
            <a:ext cx="169164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02</a:t>
            </a:r>
            <a:br/>
            <a:r>
              <a:t>Edge Boot (&lt;1.2s)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ESP32 initializes sensor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651760"/>
            <a:ext cx="169164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03</a:t>
            </a:r>
            <a:br/>
            <a:r>
              <a:t>Acoustic ToF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Pulses calculate void depth (cm)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2651760"/>
            <a:ext cx="169164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04</a:t>
            </a:r>
            <a:br/>
            <a:r>
              <a:t>GPS Lock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Satellite fixes exact Lat/Lng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651760"/>
            <a:ext cx="169164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05</a:t>
            </a:r>
            <a:br/>
            <a:r>
              <a:t>Offline Beacon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Spawns emergency Wi-Fi 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651760"/>
            <a:ext cx="169164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06</a:t>
            </a:r>
            <a:br/>
            <a:r>
              <a:t>Tactical HUD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Responders view 3D cavity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BILL OF MATERIALS &amp; DEFENSE-GRADE TECH STACK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HARDWARE IMPLEMENTATION &amp; SUB-₹800 BOM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6217920" cy="566928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ESP32 Dual-Core Microcontroller — ₹320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240 MHz Tensilica LX6, Built-in Wi-Fi &amp; Async Web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82112"/>
            <a:ext cx="6217920" cy="566928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Acoustic &amp; Geophone Transceiver Array — ₹180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40 kHz Ultrasonic ToF + Piezoelectric Vibration 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03904"/>
            <a:ext cx="6217920" cy="566928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NEO-6M Geospatial GPS Module — ₹160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High sensitivity satellite fix with active ceramic 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25696"/>
            <a:ext cx="6217920" cy="566928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18650 Li-ion + TP4056 Power Unit — ₹90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8+ hours continuous beacon operation &amp; step-up regulation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47488"/>
            <a:ext cx="6217920" cy="566928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IP65 Rugged Impact Enclosure — ₹50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Polycarbonate chassis with M3 brass standoff dampeners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560320"/>
            <a:ext cx="4133087" cy="3291840"/>
          </a:xfrm>
          <a:prstGeom prst="roundRect">
            <a:avLst/>
          </a:prstGeom>
          <a:solidFill>
            <a:srgbClr val="0C1018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TOTAL UNIT COST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₹800 / node</a:t>
            </a:r>
          </a:p>
          <a:p>
            <a:pPr>
              <a:spcBef>
                <a:spcPts val="800"/>
              </a:spcBef>
              <a:defRPr sz="1100">
                <a:solidFill>
                  <a:srgbClr val="B4B9C3"/>
                </a:solidFill>
              </a:defRPr>
            </a:pPr>
            <a:r>
              <a:t>1250x Cheaper than Military GPR (₹10,00,000)</a:t>
            </a:r>
            <a:br/>
            <a:br/>
            <a:r>
              <a:t>ECONOMIC MULTIPLIER:</a:t>
            </a:r>
            <a:br/>
            <a:r>
              <a:t>1 Military GPR Budget = 1,250 AURA Swarm Nodes deployed across 1,000+ disaster zones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DEPLOYMENT STRATEGY &amp; HIGH-IMPACT DISASTER RESPONSE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OPERATIONAL FEASIBILITY &amp; NDRF STRATEGIC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1. Sacrificeable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If shifting debris or aftershocks crush an AURA node, the mission does not fail. Cavity dimensions and GPS coordinates have already been transmitted to first responders.</a:t>
            </a:r>
            <a:br/>
            <a:br/>
            <a:r>
              <a:t>• Zero financial risk</a:t>
            </a:r>
            <a:br/>
            <a:r>
              <a:t>• Expendable scout units</a:t>
            </a:r>
            <a:br/>
            <a:r>
              <a:t>• Complete telemetry preservation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High-Density Swarm Grid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A 6-person NDRF search team can deploy 30–50 nodes simultaneously across an entire collapsed urban sector in under 5 minutes, mapping all sectors in parallel.</a:t>
            </a:r>
            <a:br/>
            <a:br/>
            <a:r>
              <a:t>• Rapid multi-point triage</a:t>
            </a:r>
            <a:br/>
            <a:r>
              <a:t>• Full 50,000 sq.ft coverage</a:t>
            </a:r>
            <a:br/>
            <a:r>
              <a:t>• Autonomous asynchronous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3. Zero-App Interoperability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Works out-of-the-box on standard NDRF issue Android phones, iPads, or rugged laptops via native web browser captive portals without internet.</a:t>
            </a:r>
            <a:br/>
            <a:br/>
            <a:r>
              <a:t>• Native browser captive portal</a:t>
            </a:r>
            <a:br/>
            <a:r>
              <a:t>• Zero software installations</a:t>
            </a:r>
            <a:br/>
            <a:r>
              <a:t>• Offline GIS map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EMPIRICAL LAB VALIDATION &amp; FIELD EXPERIMENTS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RIGOROUS STRESS TESTING &amp; DROP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256032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4.5m</a:t>
            </a:r>
            <a:br/>
            <a:r>
              <a:t>Drop Height Survival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Zero structural failure onto concrete rubble slabs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2651760"/>
            <a:ext cx="256032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97.4%</a:t>
            </a:r>
            <a:br/>
            <a:r>
              <a:t>Void Classification Accuracy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Reliable discrimination between solid debris &amp; air pockets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2651760"/>
            <a:ext cx="256032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45 cm</a:t>
            </a:r>
            <a:br/>
            <a:r>
              <a:t>Concrete Penetration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RF beacon penetrated 3 reinforced rebar concrete slabs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9096" y="2651760"/>
            <a:ext cx="2560320" cy="22860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1.18s</a:t>
            </a:r>
            <a:br/>
            <a:r>
              <a:t>Cold-Start Boot Time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From impact landing to active Wi-Fi telemetry beacon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SCALING ROADMAP FOR NATIONAL DISASTER MANAGEMENT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FUTURE SCOPE &amp; SWARM MESH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1. LoRa Sub-GHz RF Mesh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Upgrading nodes with SX1262 LoRa transceivers (868/915 MHz) for multi-kilometer subterranean mesh relay through dense soil and flooded mining shafts.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AI Edge Voice Recognition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Integrating tinyML voice keyword spotting on the edge MCU to isolate human distress cries from ambient heavy machinery and diesel generator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651760"/>
            <a:ext cx="3328416" cy="274320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3. Thermal Air-Pouch Sensors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Adding micro-infrared thermal spot sensors to distinguish live human biological heat signatures from surrounding cold concrete debris.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091985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ENGINEERING CREDENTIALS &amp; SPECIALIZED DIVISION ROLES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TEAM ANTIGRAVITY — DEPARTMENT OF ECE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057400" cy="310896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Jaffer Rilwaan V</a:t>
            </a:r>
            <a:br/>
            <a:r>
              <a:t>Lead Systems Architect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ESP32 FreeRTOS Firmware &amp; System Integration</a:t>
            </a:r>
          </a:p>
        </p:txBody>
      </p:sp>
      <p:pic>
        <p:nvPicPr>
          <p:cNvPr id="5" name="Picture 4" descr="jaffer_rilwa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297680"/>
            <a:ext cx="1097280" cy="1097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871215" y="2560320"/>
            <a:ext cx="2057400" cy="310896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Kingston J</a:t>
            </a:r>
            <a:br/>
            <a:r>
              <a:t>Sensor Fusion Lead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Ultrasonic Transceiver &amp; Acoustic Hardware</a:t>
            </a:r>
          </a:p>
        </p:txBody>
      </p:sp>
      <p:pic>
        <p:nvPicPr>
          <p:cNvPr id="7" name="Picture 6" descr="kingst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3" y="4297680"/>
            <a:ext cx="1097280" cy="1097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10912" y="2560320"/>
            <a:ext cx="2057400" cy="310896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Hannah Blessy J</a:t>
            </a:r>
            <a:br/>
            <a:r>
              <a:t>Mesh Network Architect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Offline Wi-Fi Captive Beacon &amp; Protocols</a:t>
            </a:r>
          </a:p>
        </p:txBody>
      </p:sp>
      <p:pic>
        <p:nvPicPr>
          <p:cNvPr id="9" name="Picture 8" descr="hannah_bless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297680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50607" y="2560320"/>
            <a:ext cx="2057400" cy="310896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Kathiravan S</a:t>
            </a:r>
            <a:br/>
            <a:r>
              <a:t>Hardware Lead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Drop Chassis Design &amp; Enclosure Stress</a:t>
            </a:r>
          </a:p>
        </p:txBody>
      </p:sp>
      <p:pic>
        <p:nvPicPr>
          <p:cNvPr id="11" name="Picture 10" descr="kathirav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4297680"/>
            <a:ext cx="1097280" cy="1097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90304" y="2560320"/>
            <a:ext cx="2057400" cy="310896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Giridhar K</a:t>
            </a:r>
            <a:br/>
            <a:r>
              <a:t>Field HUD &amp; UX Lead</a:t>
            </a:r>
          </a:p>
          <a:p>
            <a:pPr>
              <a:spcBef>
                <a:spcPts val="400"/>
              </a:spcBef>
              <a:defRPr sz="1050">
                <a:solidFill>
                  <a:srgbClr val="B4B9C3"/>
                </a:solidFill>
              </a:defRPr>
            </a:pPr>
            <a:r>
              <a:t>High-Contrast Responder Emergency HUD</a:t>
            </a:r>
          </a:p>
        </p:txBody>
      </p:sp>
      <p:pic>
        <p:nvPicPr>
          <p:cNvPr id="13" name="Picture 12" descr="giridh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5792" y="42976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